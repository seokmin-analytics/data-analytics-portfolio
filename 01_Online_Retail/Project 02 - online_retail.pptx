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Alfa Slab One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3BAF0E-0841-4BDC-B8BE-D3EE2B74DA0F}">
  <a:tblStyle styleId="{F93BAF0E-0841-4BDC-B8BE-D3EE2B74DA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7" Type="http://schemas.openxmlformats.org/officeDocument/2006/relationships/font" Target="fonts/AlfaSlabOn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roximaNova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2db872d53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2db872d53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2db872d53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2db872d53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2db872d5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2db872d5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2db872d53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2db872d53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db872d53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2db872d5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2db872d53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2db872d53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db872d53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2db872d53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db872d53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2db872d53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2db872d53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2db872d53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2db872d53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2db872d53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2db872d53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2db872d53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4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RFM 을 넘어선 고객 세분화</a:t>
            </a:r>
            <a:endParaRPr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행동 기반 지표를 활용한 고객 세분화의 필요성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ct val="100000"/>
              <a:buFont typeface="Lato"/>
              <a:buAutoNum type="arabicPeriod"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문제의 정의</a:t>
            </a:r>
            <a:endParaRPr>
              <a:solidFill>
                <a:srgbClr val="A64D7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</a:t>
            </a:r>
            <a:r>
              <a:rPr lang="ko" sz="2000"/>
              <a:t>● RFM으로 분류된 고객 그룹은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   실제 고객의 구매 특성을 적절히 반영하고 있을까?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● </a:t>
            </a:r>
            <a:r>
              <a:rPr lang="ko" sz="2000"/>
              <a:t>만약 같은 그룹 안에서도 서로 다른 구매 행동을 보이는 고객이 존재한다면,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000"/>
              <a:t>    추가적인 행동 기반 지표가 필요하지 않을까?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2. 데이터 소개</a:t>
            </a:r>
            <a:endParaRPr>
              <a:solidFill>
                <a:srgbClr val="A64D7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8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• 데이터 : Online_Retail.csv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• 주요 컬럼      InvoiceNo : 주문 번호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               StockCode : 상품 번호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               Description : 상품 이름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               Quantity : 상품 수량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               InvoiceDate : 주문 날짜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               UnitPrice : 상품 단가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                      CustomerID : 고객 번호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. 데이터 전처리</a:t>
            </a:r>
            <a:endParaRPr>
              <a:solidFill>
                <a:srgbClr val="A64D7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67947" y="1152475"/>
            <a:ext cx="4336500" cy="19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</a:t>
            </a:r>
            <a:r>
              <a:rPr lang="ko"/>
              <a:t>3-1 실제 상품 주문과 무관한 내역 제거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</a:t>
            </a:r>
            <a:r>
              <a:rPr lang="ko"/>
              <a:t>• </a:t>
            </a:r>
            <a:r>
              <a:rPr lang="ko"/>
              <a:t> 가격이 0원인 주문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</a:t>
            </a:r>
            <a:r>
              <a:rPr lang="ko"/>
              <a:t>•  </a:t>
            </a:r>
            <a:r>
              <a:rPr lang="ko"/>
              <a:t>고객을 식별할 수 없는 주문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     </a:t>
            </a:r>
            <a:r>
              <a:rPr lang="ko"/>
              <a:t>• </a:t>
            </a:r>
            <a:r>
              <a:rPr lang="ko"/>
              <a:t> 실제 상품 구매와 관계없는 거래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89097" y="3318978"/>
            <a:ext cx="5040300" cy="16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3-2 </a:t>
            </a:r>
            <a:r>
              <a:rPr lang="ko"/>
              <a:t>비정상적인 구매 ·  환불</a:t>
            </a:r>
            <a:r>
              <a:rPr lang="ko"/>
              <a:t> 내역 제거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•  </a:t>
            </a:r>
            <a:r>
              <a:rPr lang="ko"/>
              <a:t>구매보다 환불이 많은 고객 - 상품 조합 제거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     •  실제 </a:t>
            </a:r>
            <a:r>
              <a:rPr lang="ko"/>
              <a:t>구매 성향을 반영하지 않는 거래 제거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4 -1</a:t>
            </a: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. RFM 분류 기준</a:t>
            </a:r>
            <a:endParaRPr>
              <a:solidFill>
                <a:srgbClr val="A64D7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•  </a:t>
            </a:r>
            <a:r>
              <a:rPr lang="ko" sz="2000"/>
              <a:t>R (Recency) : 최근 거래 후, 경과 시간 기준 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 			     5분위수 ( 1 ~ 5 점 차등 적용 )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•  </a:t>
            </a:r>
            <a:r>
              <a:rPr lang="ko" sz="2000"/>
              <a:t>F (Frequency) : 고객별 주문횟수 ( 사용자 정의 )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  </a:t>
            </a:r>
            <a:r>
              <a:rPr lang="ko" sz="2000"/>
              <a:t>※ 주문 횟수가 1회인 고객이 많아 분위수 대신 사용자 정의 구간 사용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•  </a:t>
            </a:r>
            <a:r>
              <a:rPr lang="ko" sz="2000"/>
              <a:t>M (Monetary) : 총 구매금액  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000"/>
              <a:t>                            5분위수 </a:t>
            </a:r>
            <a:r>
              <a:rPr lang="ko" sz="2000"/>
              <a:t>( 1 ~ 5 점 차등 적용 )</a:t>
            </a:r>
            <a:endParaRPr sz="2000"/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658766" y="27094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{F93BAF0E-0841-4BDC-B8BE-D3EE2B74DA0F}</a:tableStyleId>
              </a:tblPr>
              <a:tblGrid>
                <a:gridCol w="1170050"/>
                <a:gridCol w="1170050"/>
                <a:gridCol w="1170050"/>
                <a:gridCol w="1170050"/>
                <a:gridCol w="1170050"/>
                <a:gridCol w="1170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주문 횟수 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1 </a:t>
                      </a:r>
                      <a:r>
                        <a:rPr lang="ko"/>
                        <a:t>회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 ~ 3 </a:t>
                      </a:r>
                      <a:r>
                        <a:rPr lang="ko"/>
                        <a:t>회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 ~ 6 </a:t>
                      </a:r>
                      <a:r>
                        <a:rPr lang="ko"/>
                        <a:t>회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 ~ 15 </a:t>
                      </a:r>
                      <a:r>
                        <a:rPr lang="ko"/>
                        <a:t>회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16 </a:t>
                      </a:r>
                      <a:r>
                        <a:rPr lang="ko"/>
                        <a:t>회 이상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점  수 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4-2. RFM 기준 고객 세분화</a:t>
            </a:r>
            <a:endParaRPr/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751725" y="1160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{F93BAF0E-0841-4BDC-B8BE-D3EE2B74DA0F}</a:tableStyleId>
              </a:tblPr>
              <a:tblGrid>
                <a:gridCol w="2058675"/>
                <a:gridCol w="3210225"/>
                <a:gridCol w="1970100"/>
              </a:tblGrid>
              <a:tr h="381000">
                <a:tc>
                  <a:txBody>
                    <a:bodyPr/>
                    <a:lstStyle/>
                    <a:p>
                      <a:pPr indent="0" lvl="0" marL="1905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그룹 이름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이유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분류 기준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4075">
                <a:tc>
                  <a:txBody>
                    <a:bodyPr/>
                    <a:lstStyle/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High Value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최근에도 꾸준히 방문하여</a:t>
                      </a:r>
                      <a:endParaRPr/>
                    </a:p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높은 구매 금액을 유지하는 고객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(R&gt;=4)</a:t>
                      </a:r>
                      <a:endParaRPr/>
                    </a:p>
                    <a:p>
                      <a:pPr indent="0" lvl="0" marL="1905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&amp; (F&gt;=4) &amp; (M&gt;=4)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725">
                <a:tc>
                  <a:txBody>
                    <a:bodyPr/>
                    <a:lstStyle/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Potential High</a:t>
                      </a:r>
                      <a:endParaRPr/>
                    </a:p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Value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최근 구매가 활발하여</a:t>
                      </a:r>
                      <a:endParaRPr/>
                    </a:p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성장 가능성이 높은 고객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(R&gt;=4)</a:t>
                      </a:r>
                      <a:endParaRPr/>
                    </a:p>
                    <a:p>
                      <a:pPr indent="0" lvl="0" marL="1905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&amp; ( (F&gt;=4) | (M&gt;=4) )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50">
                <a:tc>
                  <a:txBody>
                    <a:bodyPr/>
                    <a:lstStyle/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Regular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일반 고객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그 외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850">
                <a:tc>
                  <a:txBody>
                    <a:bodyPr/>
                    <a:lstStyle/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At Risk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과거에는 활발히 구매했지만,</a:t>
                      </a:r>
                      <a:endParaRPr/>
                    </a:p>
                    <a:p>
                      <a:pPr indent="0" lvl="0" marL="1905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최근 구매가 감소한 고객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(R&lt;=2) &amp; (F&gt;=4)</a:t>
                      </a:r>
                      <a:endParaRPr/>
                    </a:p>
                  </a:txBody>
                  <a:tcPr marT="17900" marB="17900" marR="64775" marL="6477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. 일반적인 CRM 전략</a:t>
            </a:r>
            <a:endParaRPr/>
          </a:p>
        </p:txBody>
      </p:sp>
      <p:graphicFrame>
        <p:nvGraphicFramePr>
          <p:cNvPr id="95" name="Google Shape;95;p19"/>
          <p:cNvGraphicFramePr/>
          <p:nvPr/>
        </p:nvGraphicFramePr>
        <p:xfrm>
          <a:off x="1076505" y="1279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{F93BAF0E-0841-4BDC-B8BE-D3EE2B74DA0F}</a:tableStyleId>
              </a:tblPr>
              <a:tblGrid>
                <a:gridCol w="2058675"/>
                <a:gridCol w="2371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그룹 이름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일반적인 CRM 전략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High Value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  • VIP 혜택  </a:t>
                      </a:r>
                      <a:endParaRPr/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   • 멤버십 유지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Potential High</a:t>
                      </a:r>
                      <a:endParaRPr/>
                    </a:p>
                    <a:p>
                      <a:pPr indent="0" lvl="0" marL="1905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Value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  • VIP 육성</a:t>
                      </a:r>
                      <a:endParaRPr/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   • 구매 유도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8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Regular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  • 재방문 캠페인</a:t>
                      </a:r>
                      <a:endParaRPr/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   • 리마인드 알림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At Risk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  • 일반 프로모션</a:t>
                      </a:r>
                      <a:endParaRPr/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   • 추천 상품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6. 문제 제기 ( RFM 의  한계)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680200" cy="3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</a:t>
            </a:r>
            <a:r>
              <a:rPr lang="ko" sz="2700"/>
              <a:t>RFM</a:t>
            </a:r>
            <a:r>
              <a:rPr lang="ko"/>
              <a:t>은 고객을 </a:t>
            </a:r>
            <a:r>
              <a:rPr lang="ko" sz="2700"/>
              <a:t>Recency, Frequency, Monetary</a:t>
            </a:r>
            <a:r>
              <a:rPr lang="ko"/>
              <a:t>라는 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세 가지 기준으로 단순화하여 분류한다.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그러나 실제 고객의 구매 행동은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</a:t>
            </a:r>
            <a:r>
              <a:rPr lang="ko" sz="2700"/>
              <a:t>구매 주기, 상품 구성, 구매 수량, 환불 여부</a:t>
            </a:r>
            <a:r>
              <a:rPr lang="ko"/>
              <a:t> 등에 따라 달라질 수 있다.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따라서 본 분석에서는 RFM 분류 결과와 실제 구매 패턴을 비교하여,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 RFM만으로는 놓칠 수 있는 분류 오류를 확인하고자 한다.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7. 사례 1  :  High Value 지만  실제로는  At Risk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535841" y="2841148"/>
            <a:ext cx="7506000" cy="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ko" sz="1460"/>
              <a:t>※  cycle : 평균 구매 주기 ( 구매기간 / (주문횟수 - 1) )   ,    recency : 마지막 거래 이후 경과 시간</a:t>
            </a:r>
            <a:endParaRPr sz="1460"/>
          </a:p>
        </p:txBody>
      </p:sp>
      <p:graphicFrame>
        <p:nvGraphicFramePr>
          <p:cNvPr id="108" name="Google Shape;108;p21"/>
          <p:cNvGraphicFramePr/>
          <p:nvPr/>
        </p:nvGraphicFramePr>
        <p:xfrm>
          <a:off x="879096" y="11971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{F93BAF0E-0841-4BDC-B8BE-D3EE2B74DA0F}</a:tableStyleId>
              </a:tblPr>
              <a:tblGrid>
                <a:gridCol w="1270350"/>
                <a:gridCol w="479075"/>
                <a:gridCol w="461350"/>
                <a:gridCol w="431800"/>
                <a:gridCol w="2215200"/>
                <a:gridCol w="809750"/>
                <a:gridCol w="1004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CustomerID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R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F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M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segment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cycle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recency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15,513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High Value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17.1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32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14,849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High Value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13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28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15,993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High Value Customers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9</a:t>
                      </a:r>
                      <a:endParaRPr/>
                    </a:p>
                  </a:txBody>
                  <a:tcPr marT="17900" marB="17900" marR="64775" marL="6477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38250" y="3556473"/>
            <a:ext cx="8147400" cy="11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100"/>
              <a:t>최근 거래가 평균 구매주기를 많이 넘긴 고객들은    At Risk Customers 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100"/>
              <a:t> =&gt;    절대적인 기준보다 고객의 성향에 맞춘 상대적인 기준이 필요하다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. 사례 2  :  같은 RFM ,   다른 구매 패턴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488850" y="1039713"/>
            <a:ext cx="85206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 </a:t>
            </a:r>
            <a:r>
              <a:rPr lang="ko"/>
              <a:t>동일한 RFM 그룹인 두 고객  ( </a:t>
            </a:r>
            <a:r>
              <a:rPr lang="ko"/>
              <a:t>R = 3,  F = 1,  M = 1 )</a:t>
            </a:r>
            <a:endParaRPr/>
          </a:p>
        </p:txBody>
      </p:sp>
      <p:graphicFrame>
        <p:nvGraphicFramePr>
          <p:cNvPr id="116" name="Google Shape;116;p22"/>
          <p:cNvGraphicFramePr/>
          <p:nvPr/>
        </p:nvGraphicFramePr>
        <p:xfrm>
          <a:off x="583335" y="15676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{F93BAF0E-0841-4BDC-B8BE-D3EE2B74DA0F}</a:tableStyleId>
              </a:tblPr>
              <a:tblGrid>
                <a:gridCol w="1182850"/>
                <a:gridCol w="1478175"/>
                <a:gridCol w="958475"/>
                <a:gridCol w="1188775"/>
                <a:gridCol w="1519475"/>
                <a:gridCol w="91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CustomerID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Description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Q</a:t>
                      </a:r>
                      <a:r>
                        <a:rPr lang="ko"/>
                        <a:t>uantity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CustomerID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Description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/>
                        <a:t>Quantity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150">
                <a:tc row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14039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/>
                        <a:t>REGENCY TEA PLATE GREEN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48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16412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/>
                        <a:t>LUNCH BAG SUKI DESIGN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264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/>
                        <a:t>LUNCH BAG VINTAGE DOILY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/>
                        <a:t>LUNCH BAG PINK POLKADOT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 v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/>
                        <a:t>LUNCH BAG CARS BLUE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800"/>
                        <a:t>LUNCH BAG CARS BLUE</a:t>
                      </a:r>
                      <a:endParaRPr sz="13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 vMerge="1"/>
                <a:tc vMerge="1"/>
                <a:tc vMerge="1"/>
                <a:tc vMerge="1"/>
                <a:tc vMerge="1"/>
                <a:tc vMerge="1"/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300"/>
                        <a:t>⁞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300"/>
                        <a:t>⁞</a:t>
                      </a:r>
                      <a:endParaRPr sz="1800"/>
                    </a:p>
                  </a:txBody>
                  <a:tcPr marT="91425" marB="91425" marR="91425" marL="91425" anchor="ctr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300"/>
                        <a:t>⁞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300"/>
                        <a:t>⁞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/>
                        <a:t>소수 상품 대량 구매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/>
                        <a:t>다양한 제품 소량 구매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50750" y="4365872"/>
            <a:ext cx="81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100"/>
              <a:t>구매 패턴이 다른 고객에게  맞춤형 마케팅이 필요하다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9. 개선 사항 ( 행동 기반 지표 )</a:t>
            </a:r>
            <a:endParaRPr>
              <a:solidFill>
                <a:srgbClr val="A64D7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492941" y="1227471"/>
            <a:ext cx="85206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 </a:t>
            </a:r>
            <a:r>
              <a:rPr lang="ko" sz="2000"/>
              <a:t>●  RFM    장점  :  빠른 분류의 기준</a:t>
            </a:r>
            <a:endParaRPr sz="2000"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               단점  :  같은 그룹 내에 서로 다른 패턴의 고객이 존재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●  고객 행동 기반의 보조 지표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     구매 주기, 상품의 다양성, 품목 당 구매 수량, 환불률 등.</a:t>
            </a:r>
            <a:endParaRPr sz="2000"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     실제 행동에 맞추어진 CRM 기반 마케팅이 필요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000"/>
              <a:t> ●  나아가 고객 개별 행동 기반의 맞춤형 마케팅으로의 확장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r>
              <a:rPr lang="ko">
                <a:solidFill>
                  <a:srgbClr val="A64D79"/>
                </a:solidFill>
                <a:latin typeface="Lato"/>
                <a:ea typeface="Lato"/>
                <a:cs typeface="Lato"/>
                <a:sym typeface="Lato"/>
              </a:rPr>
              <a:t>. 한계점 및 향후 과제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●   </a:t>
            </a:r>
            <a:r>
              <a:rPr lang="ko"/>
              <a:t>특정 상품군 중심의 데이터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=&gt; 고객의 장기적인 변화를 분석에 한계가 있었다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●   </a:t>
            </a:r>
            <a:r>
              <a:rPr lang="ko"/>
              <a:t>주문 완료 이력 ( 상품 조회, 장바구니와 같은 기록 없음) 만 존재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=&gt; 고객 행동 데이터를 함께 분석하지 못하였다.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●   </a:t>
            </a:r>
            <a:r>
              <a:rPr lang="ko"/>
              <a:t>고객별 구매 패턴을 바탕으로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실제 개인화 마케팅 전략이나 추천 시스템까지 확장하지는 못하였다.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000"/>
              <a:t> ●  향후에는 외부 데이터(트렌드, 계절성, 가족 구성 등)를 결합하여 고객 행동을   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000"/>
              <a:t>      예측하는 선제적 CRM으로 확장 가능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